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39059-61C8-02C6-FDA6-2C3E74989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E6E1A9-7260-2A7C-0079-3D60C9809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01F110-5905-0010-D1FB-268A500F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D18E84-5DCC-757A-413C-76761181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2FC4DB-636F-F8DE-4FB3-CFBB9A55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74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732A66-E1BE-F133-B548-B0EAC747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3D848B-D304-D7E6-CECA-2D803E276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34D75-DEAB-F057-5CE6-E71A9DEB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62662F-3B5E-4536-C847-F154F627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EEDD06-D8BD-20EC-3E89-67BFDB62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991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436D7-B506-20FD-F944-83B4E671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B63174-FB4E-B00A-2949-7D60449D7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B14BA-C353-DDA5-A50D-65A2D6AF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5D27D1-161E-5216-B910-DE4A2EFF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D0F9D-233A-41F3-6482-F2555AB8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931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BE8C2-743D-12FF-05A1-599C45C8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604FA-4F64-6294-36E8-BDC667733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D47F5B-6DC2-B947-1143-D1989DD16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08DEF2-6C79-5C26-DCB9-71682549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C0D6CE-C1B1-8D60-F672-95FDA5DA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FD982A-4967-326D-6075-B45BFE6E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0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62FA2-8E76-7BC7-6057-37A843AE9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67FBCF-43AC-E479-B590-A1C5B8740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EC0FFB-3354-CFB8-8570-817926379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472508-F333-14D5-DEA2-B196916DE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A36FB7-B6AB-B292-E62D-3DE7ADAFF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54B8A4-227E-85D6-185C-4412C0B3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BC3332-9475-C278-1D51-56EF0733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29A3BB-07A4-E0C9-D6FE-E8B33C69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284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6298E-75E7-C31F-C795-661DADC6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EDCDDE-F150-DA94-7B0C-78B7FC8C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6A74FA-23C5-8F2D-6EF2-6812D7ED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8888AF-9D1C-8776-A7F5-DDE5A0B2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4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70FE02-DD89-45C0-8326-78A358321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AA08CA-4864-61B2-8216-C4226FBF9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2F46A3-0A61-794C-F4E2-06CE9AA9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93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F57B0-AE1A-29F5-EADD-A7BA2A38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9FF897-009B-9312-8A20-34405C79B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316CBC-E0B3-3C65-4BEA-3F2CB8BFD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B6844C-EB94-9691-5963-989868F8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B48F34-7B6D-878A-18EF-AA3A9172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9DAC52-D3E4-F3BE-32B8-44A928AF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23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98392-15D4-98BE-1319-2F7B2DE26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894F60-B1CF-1565-17F1-700411913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E906C5-4996-CF36-63AA-9A82AE285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7936D1-DF27-5247-AD9F-537FC469A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E242FA-2FC3-0186-4210-E3AE3076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A1CE5E-D1A5-22DA-D6E1-FF0D7C6D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74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7C443-02AB-4CA0-8F24-63344D641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30B7E4-C565-3162-1B16-8AC3C7635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D6F4D2-90ED-3528-88E8-A179B8D10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BBFCD-2D7C-8EB9-E511-7E8A6866D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4453E-75B4-A6DE-A6EF-633118F0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43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88D246-1B2F-250F-EE30-C74A9E071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F3FE0C-ACE8-C830-3EE9-B9A65FB3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477577-9A72-F568-F34B-E401B032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A98AB0-277B-8DAE-79AE-AEA73196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5AC77B-7493-F238-378C-BEC33A27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12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38CFC6-A1C5-554C-9D60-3D1D7CFC0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705801-937C-FE10-5EE3-E3D3C1FA9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FB6D20-CA7D-471A-9F3E-3B6FCACFF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0F897-B301-45DC-9956-B633910F59A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EC53E2-754C-E039-7304-2F3092C41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B7B360-253E-283A-F8F5-EF605AC73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230F8-A68B-404D-B8AD-DC5F04B45B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0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13976F2B-636A-0A0F-09A7-B5752B5BE8D1}"/>
              </a:ext>
            </a:extLst>
          </p:cNvPr>
          <p:cNvSpPr/>
          <p:nvPr/>
        </p:nvSpPr>
        <p:spPr>
          <a:xfrm>
            <a:off x="762000" y="1143000"/>
            <a:ext cx="127000" cy="127000"/>
          </a:xfrm>
          <a:prstGeom prst="ellipse">
            <a:avLst/>
          </a:prstGeom>
          <a:solidFill>
            <a:srgbClr val="E846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2C89F-6B98-F8E1-35EB-5EB99DA5A960}"/>
              </a:ext>
            </a:extLst>
          </p:cNvPr>
          <p:cNvSpPr txBox="1"/>
          <p:nvPr/>
        </p:nvSpPr>
        <p:spPr>
          <a:xfrm>
            <a:off x="1016000" y="1066800"/>
            <a:ext cx="889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300" b="1">
                <a:solidFill>
                  <a:srgbClr val="6B6357"/>
                </a:solidFill>
                <a:latin typeface="맑은 고딕" panose="020B0503020000020004" pitchFamily="50" charset="-127"/>
              </a:rPr>
              <a:t>MD </a:t>
            </a:r>
            <a:r>
              <a:rPr lang="ko-KR" altLang="en-US" sz="1300" b="1">
                <a:solidFill>
                  <a:srgbClr val="6B6357"/>
                </a:solidFill>
                <a:latin typeface="맑은 고딕" panose="020B0503020000020004" pitchFamily="50" charset="-127"/>
              </a:rPr>
              <a:t>기획 드래프트 </a:t>
            </a:r>
            <a:r>
              <a:rPr lang="en-US" altLang="ko-KR" sz="1300" b="1">
                <a:solidFill>
                  <a:srgbClr val="6B635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6B6357"/>
                </a:solidFill>
                <a:latin typeface="맑은 고딕" panose="020B0503020000020004" pitchFamily="50" charset="-127"/>
              </a:rPr>
              <a:t>콜라보레이션 제안서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E1F87-B6A2-284C-5255-55726289B7C9}"/>
              </a:ext>
            </a:extLst>
          </p:cNvPr>
          <p:cNvSpPr txBox="1"/>
          <p:nvPr/>
        </p:nvSpPr>
        <p:spPr>
          <a:xfrm>
            <a:off x="736600" y="1905000"/>
            <a:ext cx="1092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4800" b="1">
                <a:solidFill>
                  <a:srgbClr val="1C1A16"/>
                </a:solidFill>
                <a:latin typeface="맑은 고딕" panose="020B0503020000020004" pitchFamily="50" charset="-127"/>
              </a:rPr>
              <a:t>VUNQUE × JUN OSON</a:t>
            </a:r>
            <a:endParaRPr lang="ko-KR" altLang="en-US" sz="4800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49775-DE6D-B619-9A40-6317BBE1DB9D}"/>
              </a:ext>
            </a:extLst>
          </p:cNvPr>
          <p:cNvSpPr txBox="1"/>
          <p:nvPr/>
        </p:nvSpPr>
        <p:spPr>
          <a:xfrm>
            <a:off x="762000" y="3302000"/>
            <a:ext cx="965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>
                <a:solidFill>
                  <a:srgbClr val="6B6357"/>
                </a:solidFill>
                <a:latin typeface="맑은 고딕" panose="020B0503020000020004" pitchFamily="50" charset="-127"/>
              </a:rPr>
              <a:t>분크의 미니멀 실루엣을 캔버스 삼아</a:t>
            </a:r>
            <a:r>
              <a:rPr lang="en-US" altLang="ko-KR" sz="1600">
                <a:solidFill>
                  <a:srgbClr val="6B635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6B6357"/>
                </a:solidFill>
                <a:latin typeface="맑은 고딕" panose="020B0503020000020004" pitchFamily="50" charset="-127"/>
              </a:rPr>
              <a:t>준오손의 무국적 팝 캐릭터를 포인트로 얹는 협업 라인 기획안</a:t>
            </a:r>
            <a:r>
              <a:rPr lang="en-US" altLang="ko-KR" sz="1600">
                <a:solidFill>
                  <a:srgbClr val="6B6357"/>
                </a:solidFill>
                <a:latin typeface="맑은 고딕" panose="020B0503020000020004" pitchFamily="50" charset="-127"/>
              </a:rPr>
              <a:t>. Essential(</a:t>
            </a:r>
            <a:r>
              <a:rPr lang="ko-KR" altLang="en-US" sz="1600">
                <a:solidFill>
                  <a:srgbClr val="6B6357"/>
                </a:solidFill>
                <a:latin typeface="맑은 고딕" panose="020B0503020000020004" pitchFamily="50" charset="-127"/>
              </a:rPr>
              <a:t>데일리</a:t>
            </a:r>
            <a:r>
              <a:rPr lang="en-US" altLang="ko-KR" sz="1600">
                <a:solidFill>
                  <a:srgbClr val="6B6357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600">
                <a:solidFill>
                  <a:srgbClr val="6B6357"/>
                </a:solidFill>
                <a:latin typeface="맑은 고딕" panose="020B0503020000020004" pitchFamily="50" charset="-127"/>
              </a:rPr>
              <a:t>과 </a:t>
            </a:r>
            <a:r>
              <a:rPr lang="en-US" altLang="ko-KR" sz="1600">
                <a:solidFill>
                  <a:srgbClr val="6B6357"/>
                </a:solidFill>
                <a:latin typeface="맑은 고딕" panose="020B0503020000020004" pitchFamily="50" charset="-127"/>
              </a:rPr>
              <a:t>Statement(</a:t>
            </a:r>
            <a:r>
              <a:rPr lang="ko-KR" altLang="en-US" sz="1600">
                <a:solidFill>
                  <a:srgbClr val="6B6357"/>
                </a:solidFill>
                <a:latin typeface="맑은 고딕" panose="020B0503020000020004" pitchFamily="50" charset="-127"/>
              </a:rPr>
              <a:t>한정 아트피스</a:t>
            </a:r>
            <a:r>
              <a:rPr lang="en-US" altLang="ko-KR" sz="1600">
                <a:solidFill>
                  <a:srgbClr val="6B6357"/>
                </a:solidFill>
                <a:latin typeface="맑은 고딕" panose="020B0503020000020004" pitchFamily="50" charset="-127"/>
              </a:rPr>
              <a:t>) 2</a:t>
            </a:r>
            <a:r>
              <a:rPr lang="ko-KR" altLang="en-US" sz="1600">
                <a:solidFill>
                  <a:srgbClr val="6B6357"/>
                </a:solidFill>
                <a:latin typeface="맑은 고딕" panose="020B0503020000020004" pitchFamily="50" charset="-127"/>
              </a:rPr>
              <a:t>트랙으로 리스크를 분산한다</a:t>
            </a:r>
            <a:r>
              <a:rPr lang="en-US" altLang="ko-KR" sz="1600">
                <a:solidFill>
                  <a:srgbClr val="6B6357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1E065-FBF2-8484-F6D9-03D040CD61F4}"/>
              </a:ext>
            </a:extLst>
          </p:cNvPr>
          <p:cNvSpPr txBox="1"/>
          <p:nvPr/>
        </p:nvSpPr>
        <p:spPr>
          <a:xfrm>
            <a:off x="762000" y="4699000"/>
            <a:ext cx="1016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작성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상품기획팀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MD     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대상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브랜드팀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디자인팀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리테일팀      버전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: Draft v1</a:t>
            </a:r>
            <a:endParaRPr lang="ko-KR" altLang="en-US" sz="12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08BCE9-F951-7432-6B35-4001DDEBCB9C}"/>
              </a:ext>
            </a:extLst>
          </p:cNvPr>
          <p:cNvSpPr/>
          <p:nvPr/>
        </p:nvSpPr>
        <p:spPr>
          <a:xfrm>
            <a:off x="762000" y="5969000"/>
            <a:ext cx="3302000" cy="76200"/>
          </a:xfrm>
          <a:prstGeom prst="rect">
            <a:avLst/>
          </a:prstGeom>
          <a:solidFill>
            <a:srgbClr val="1C1A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D02AA5-582E-B6C1-37E8-5AE4A1F9FD25}"/>
              </a:ext>
            </a:extLst>
          </p:cNvPr>
          <p:cNvSpPr/>
          <p:nvPr/>
        </p:nvSpPr>
        <p:spPr>
          <a:xfrm>
            <a:off x="762000" y="5969000"/>
            <a:ext cx="508000" cy="76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76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5D76B5-62D8-F86C-4D09-45372045E0A9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ECF26-FD12-43BE-7D40-3AA9A9FE3CE7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01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협업 배경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A06F9-2DD2-9FCC-F337-EB36BD46E043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왜 이 조합인가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578940A-B218-07E9-9BE9-2AC37277BE1C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49564F-E311-8C96-4FB2-4FC473F4A472}"/>
              </a:ext>
            </a:extLst>
          </p:cNvPr>
          <p:cNvSpPr txBox="1"/>
          <p:nvPr/>
        </p:nvSpPr>
        <p:spPr>
          <a:xfrm>
            <a:off x="508000" y="1651000"/>
            <a:ext cx="1117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>
                <a:solidFill>
                  <a:srgbClr val="6B6357"/>
                </a:solidFill>
                <a:latin typeface="맑은 고딕" panose="020B0503020000020004" pitchFamily="50" charset="-127"/>
              </a:rPr>
              <a:t>분크는 </a:t>
            </a:r>
            <a:r>
              <a:rPr lang="en-US" altLang="ko-KR" sz="1400">
                <a:solidFill>
                  <a:srgbClr val="6B635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6B6357"/>
                </a:solidFill>
                <a:latin typeface="맑은 고딕" panose="020B0503020000020004" pitchFamily="50" charset="-127"/>
              </a:rPr>
              <a:t>어디서나</a:t>
            </a:r>
            <a:r>
              <a:rPr lang="en-US" altLang="ko-KR" sz="1400">
                <a:solidFill>
                  <a:srgbClr val="6B6357"/>
                </a:solidFill>
                <a:latin typeface="맑은 고딕" panose="020B0503020000020004" pitchFamily="50" charset="-127"/>
              </a:rPr>
              <a:t>(Ovunque)', </a:t>
            </a:r>
            <a:r>
              <a:rPr lang="ko-KR" altLang="en-US" sz="1400">
                <a:solidFill>
                  <a:srgbClr val="6B6357"/>
                </a:solidFill>
                <a:latin typeface="맑은 고딕" panose="020B0503020000020004" pitchFamily="50" charset="-127"/>
              </a:rPr>
              <a:t>준오손은 </a:t>
            </a:r>
            <a:r>
              <a:rPr lang="en-US" altLang="ko-KR" sz="1400">
                <a:solidFill>
                  <a:srgbClr val="6B635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6B6357"/>
                </a:solidFill>
                <a:latin typeface="맑은 고딕" panose="020B0503020000020004" pitchFamily="50" charset="-127"/>
              </a:rPr>
              <a:t>무국적</a:t>
            </a:r>
            <a:r>
              <a:rPr lang="en-US" altLang="ko-KR" sz="1400">
                <a:solidFill>
                  <a:srgbClr val="6B6357"/>
                </a:solidFill>
                <a:latin typeface="맑은 고딕" panose="020B0503020000020004" pitchFamily="50" charset="-127"/>
              </a:rPr>
              <a:t>(Stateless)' — </a:t>
            </a:r>
            <a:r>
              <a:rPr lang="ko-KR" altLang="en-US" sz="1400">
                <a:solidFill>
                  <a:srgbClr val="6B6357"/>
                </a:solidFill>
                <a:latin typeface="맑은 고딕" panose="020B0503020000020004" pitchFamily="50" charset="-127"/>
              </a:rPr>
              <a:t>둘 다 경계 없는 이동성을 자기 언어로 삼는다</a:t>
            </a:r>
            <a:r>
              <a:rPr lang="en-US" altLang="ko-KR" sz="1400">
                <a:solidFill>
                  <a:srgbClr val="6B6357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203C1A-A79E-FEBA-BA9B-4ED540D32D0D}"/>
              </a:ext>
            </a:extLst>
          </p:cNvPr>
          <p:cNvSpPr/>
          <p:nvPr/>
        </p:nvSpPr>
        <p:spPr>
          <a:xfrm>
            <a:off x="508000" y="2413000"/>
            <a:ext cx="5207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E3B24-01EC-82B3-9087-77295E4F9066}"/>
              </a:ext>
            </a:extLst>
          </p:cNvPr>
          <p:cNvSpPr txBox="1"/>
          <p:nvPr/>
        </p:nvSpPr>
        <p:spPr>
          <a:xfrm>
            <a:off x="762000" y="26035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6B6357"/>
                </a:solidFill>
                <a:latin typeface="맑은 고딕" panose="020B0503020000020004" pitchFamily="50" charset="-127"/>
              </a:rPr>
              <a:t>BRAND · KOREA</a:t>
            </a:r>
            <a:endParaRPr lang="ko-KR" altLang="en-US" sz="1100" b="1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B530A-886D-813C-D3D6-6BA4D38E4AB6}"/>
              </a:ext>
            </a:extLst>
          </p:cNvPr>
          <p:cNvSpPr txBox="1"/>
          <p:nvPr/>
        </p:nvSpPr>
        <p:spPr>
          <a:xfrm>
            <a:off x="762000" y="2895600"/>
            <a:ext cx="3810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b="1">
                <a:solidFill>
                  <a:srgbClr val="1C1A16"/>
                </a:solidFill>
                <a:latin typeface="맑은 고딕" panose="020B0503020000020004" pitchFamily="50" charset="-127"/>
              </a:rPr>
              <a:t>VUNQUE </a:t>
            </a:r>
            <a:r>
              <a:rPr lang="ko-KR" altLang="en-US" b="1">
                <a:solidFill>
                  <a:srgbClr val="1C1A16"/>
                </a:solidFill>
                <a:latin typeface="맑은 고딕" panose="020B0503020000020004" pitchFamily="50" charset="-127"/>
              </a:rPr>
              <a:t>분크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B00C2A-89F7-9F80-E31E-70CB5E5AB582}"/>
              </a:ext>
            </a:extLst>
          </p:cNvPr>
          <p:cNvSpPr txBox="1"/>
          <p:nvPr/>
        </p:nvSpPr>
        <p:spPr>
          <a:xfrm>
            <a:off x="762000" y="3327400"/>
            <a:ext cx="4699000" cy="36522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이탈리아어 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'Ovunque'(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어디서나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에서 유래 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고객과 함께 어디서나 존재하는 스타일 철학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디자이너 석정혜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성수동 기반 모던 백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액세서리 브랜드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미니멀 실루엣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뉴트럴 컬러 중심의 절제된 톤앤매너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BAG·WALLET·STRAP·ACC·CLOTHES, EXCLUSIVE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라인 운영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무신사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·EQL·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자사몰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한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미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일 글로벌 배송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E9BEA4-7ADE-D36D-AC66-0E2494595300}"/>
              </a:ext>
            </a:extLst>
          </p:cNvPr>
          <p:cNvSpPr/>
          <p:nvPr/>
        </p:nvSpPr>
        <p:spPr>
          <a:xfrm>
            <a:off x="5969000" y="2413000"/>
            <a:ext cx="5715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46E71F-B035-6A12-FB46-B87B80502431}"/>
              </a:ext>
            </a:extLst>
          </p:cNvPr>
          <p:cNvSpPr txBox="1"/>
          <p:nvPr/>
        </p:nvSpPr>
        <p:spPr>
          <a:xfrm>
            <a:off x="6223000" y="26035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2451FF"/>
                </a:solidFill>
                <a:latin typeface="맑은 고딕" panose="020B0503020000020004" pitchFamily="50" charset="-127"/>
              </a:rPr>
              <a:t>ILLUSTRATOR · JAPAN</a:t>
            </a:r>
            <a:endParaRPr lang="ko-KR" altLang="en-US" sz="1100" b="1">
              <a:solidFill>
                <a:srgbClr val="2451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F27EA3-CADF-BB9F-12DF-BEEA3B5890D4}"/>
              </a:ext>
            </a:extLst>
          </p:cNvPr>
          <p:cNvSpPr txBox="1"/>
          <p:nvPr/>
        </p:nvSpPr>
        <p:spPr>
          <a:xfrm>
            <a:off x="6223000" y="2895600"/>
            <a:ext cx="3810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b="1">
                <a:solidFill>
                  <a:srgbClr val="1C1A16"/>
                </a:solidFill>
                <a:latin typeface="맑은 고딕" panose="020B0503020000020004" pitchFamily="50" charset="-127"/>
              </a:rPr>
              <a:t>준오손 </a:t>
            </a:r>
            <a:r>
              <a:rPr lang="en-US" altLang="ko-KR" b="1">
                <a:solidFill>
                  <a:srgbClr val="1C1A16"/>
                </a:solidFill>
                <a:latin typeface="맑은 고딕" panose="020B0503020000020004" pitchFamily="50" charset="-127"/>
              </a:rPr>
              <a:t>Jun Oson</a:t>
            </a:r>
            <a:endParaRPr lang="ko-KR" altLang="en-US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806708-BD2D-CD7A-6F90-B63D2A724251}"/>
              </a:ext>
            </a:extLst>
          </p:cNvPr>
          <p:cNvSpPr txBox="1"/>
          <p:nvPr/>
        </p:nvSpPr>
        <p:spPr>
          <a:xfrm>
            <a:off x="6223000" y="3327400"/>
            <a:ext cx="5207000" cy="337528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1979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년생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가마쿠라 기반 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— 2005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년 데뷔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땅콩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피너츠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실루엣 캐릭터가 시그니처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70~80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년대 만화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애니메이션 감성 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서구 요소를 섞은 무국적 그래픽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밝은 컬러와 유머러스한 표현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광고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패션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굿즈 전방위 확장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주요 협업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: ZARA(2018), Back to the Future(2021), E.T.(2023),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하츠네 미쿠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세서미 스트리트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(2024)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국내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아조바이아 등 협업 레퍼런스 보유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CEE2C5C-8B8D-E068-1451-DDB1E3367F08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AD4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73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EA6798-B3CE-F9C2-030B-B6CEFF049101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65127-9525-B131-B99C-9C093EE6B30E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01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협업 배경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77B12A-5A0C-1339-4F58-236F284B7707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시너지 포인트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CD0427C-48C8-B52B-00F7-6B68C64478FC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71F2D2-5232-1147-DC1E-C6971D9F933E}"/>
              </a:ext>
            </a:extLst>
          </p:cNvPr>
          <p:cNvSpPr/>
          <p:nvPr/>
        </p:nvSpPr>
        <p:spPr>
          <a:xfrm>
            <a:off x="508000" y="1905000"/>
            <a:ext cx="11176000" cy="2794000"/>
          </a:xfrm>
          <a:prstGeom prst="rect">
            <a:avLst/>
          </a:prstGeom>
          <a:solidFill>
            <a:srgbClr val="ECE7DB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22DC5-3EAD-1F6B-F2AB-DE2553954A21}"/>
              </a:ext>
            </a:extLst>
          </p:cNvPr>
          <p:cNvSpPr txBox="1"/>
          <p:nvPr/>
        </p:nvSpPr>
        <p:spPr>
          <a:xfrm>
            <a:off x="889000" y="2222500"/>
            <a:ext cx="254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 b="1">
                <a:solidFill>
                  <a:srgbClr val="E8462F"/>
                </a:solidFill>
                <a:latin typeface="맑은 고딕" panose="020B0503020000020004" pitchFamily="50" charset="-127"/>
              </a:rPr>
              <a:t>SYNERGY</a:t>
            </a:r>
            <a:endParaRPr lang="ko-KR" altLang="en-US" sz="1200" b="1">
              <a:solidFill>
                <a:srgbClr val="E8462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F4378-B611-E4D0-F0FB-4888708EE2F5}"/>
              </a:ext>
            </a:extLst>
          </p:cNvPr>
          <p:cNvSpPr txBox="1"/>
          <p:nvPr/>
        </p:nvSpPr>
        <p:spPr>
          <a:xfrm>
            <a:off x="889000" y="2667000"/>
            <a:ext cx="10160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>
                <a:solidFill>
                  <a:srgbClr val="1C1A16"/>
                </a:solidFill>
                <a:latin typeface="맑은 고딕" panose="020B0503020000020004" pitchFamily="50" charset="-127"/>
              </a:rPr>
              <a:t>분크의 절제된 실루엣이 </a:t>
            </a:r>
            <a:r>
              <a:rPr lang="en-US" altLang="ko-KR" sz="1600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600">
                <a:solidFill>
                  <a:srgbClr val="1C1A16"/>
                </a:solidFill>
                <a:latin typeface="맑은 고딕" panose="020B0503020000020004" pitchFamily="50" charset="-127"/>
              </a:rPr>
              <a:t>캔버스</a:t>
            </a:r>
            <a:r>
              <a:rPr lang="en-US" altLang="ko-KR" sz="1600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600">
                <a:solidFill>
                  <a:srgbClr val="1C1A16"/>
                </a:solidFill>
                <a:latin typeface="맑은 고딕" panose="020B0503020000020004" pitchFamily="50" charset="-127"/>
              </a:rPr>
              <a:t>가 되고</a:t>
            </a:r>
            <a:r>
              <a:rPr lang="en-US" altLang="ko-KR" sz="1600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1C1A16"/>
                </a:solidFill>
                <a:latin typeface="맑은 고딕" panose="020B0503020000020004" pitchFamily="50" charset="-127"/>
              </a:rPr>
              <a:t>준오손의 위트 있는 캐릭터가 </a:t>
            </a:r>
            <a:r>
              <a:rPr lang="en-US" altLang="ko-KR" sz="1600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600">
                <a:solidFill>
                  <a:srgbClr val="1C1A16"/>
                </a:solidFill>
                <a:latin typeface="맑은 고딕" panose="020B0503020000020004" pitchFamily="50" charset="-127"/>
              </a:rPr>
              <a:t>포인트</a:t>
            </a:r>
            <a:r>
              <a:rPr lang="en-US" altLang="ko-KR" sz="1600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600">
                <a:solidFill>
                  <a:srgbClr val="1C1A16"/>
                </a:solidFill>
                <a:latin typeface="맑은 고딕" panose="020B0503020000020004" pitchFamily="50" charset="-127"/>
              </a:rPr>
              <a:t>가 되는 대비 구조</a:t>
            </a:r>
            <a:r>
              <a:rPr lang="en-US" altLang="ko-KR" sz="1600">
                <a:solidFill>
                  <a:srgbClr val="1C1A1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>
                <a:solidFill>
                  <a:srgbClr val="1C1A16"/>
                </a:solidFill>
                <a:latin typeface="맑은 고딕" panose="020B0503020000020004" pitchFamily="50" charset="-127"/>
              </a:rPr>
              <a:t>두 브랜드 모두 강한 로고 플레이 대신 형태와 무드로 정체성을 드러내는 브랜드라는 점에서</a:t>
            </a:r>
            <a:r>
              <a:rPr lang="en-US" altLang="ko-KR" sz="1600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1C1A16"/>
                </a:solidFill>
                <a:latin typeface="맑은 고딕" panose="020B0503020000020004" pitchFamily="50" charset="-127"/>
              </a:rPr>
              <a:t>그래픽을 올려도 서로의 톤을 해치지 않는 궁합이다</a:t>
            </a:r>
            <a:r>
              <a:rPr lang="en-US" altLang="ko-KR" sz="1600">
                <a:solidFill>
                  <a:srgbClr val="1C1A16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756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A70083-CB0B-A106-6D4D-EA47934B6314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F5135-360A-B09D-C55F-B90CA5787BF3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02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컬렉션 컨셉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7AC3B-DCFB-8CDA-85FB-6742B0F8341D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OVUNQUE FRIENDS</a:t>
            </a:r>
            <a:endParaRPr lang="ko-KR" altLang="en-US" sz="2800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C44700C-D7F9-507B-9D3B-8A6753747461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CDA2D36-AC7B-3A80-3199-EA9CBC81BFB1}"/>
              </a:ext>
            </a:extLst>
          </p:cNvPr>
          <p:cNvSpPr txBox="1"/>
          <p:nvPr/>
        </p:nvSpPr>
        <p:spPr>
          <a:xfrm>
            <a:off x="508000" y="16510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 b="1">
                <a:solidFill>
                  <a:srgbClr val="6B6357"/>
                </a:solidFill>
                <a:latin typeface="맑은 고딕" panose="020B0503020000020004" pitchFamily="50" charset="-127"/>
              </a:rPr>
              <a:t>어디에나</a:t>
            </a:r>
            <a:r>
              <a:rPr lang="en-US" altLang="ko-KR" sz="1400" b="1">
                <a:solidFill>
                  <a:srgbClr val="6B635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b="1">
                <a:solidFill>
                  <a:srgbClr val="6B6357"/>
                </a:solidFill>
                <a:latin typeface="맑은 고딕" panose="020B0503020000020004" pitchFamily="50" charset="-127"/>
              </a:rPr>
              <a:t>누구에게나 </a:t>
            </a:r>
            <a:r>
              <a:rPr lang="en-US" altLang="ko-KR" sz="1400" b="1">
                <a:solidFill>
                  <a:srgbClr val="6B6357"/>
                </a:solidFill>
                <a:latin typeface="맑은 고딕" panose="020B0503020000020004" pitchFamily="50" charset="-127"/>
              </a:rPr>
              <a:t>— Anywhere, Everyone</a:t>
            </a:r>
            <a:endParaRPr lang="ko-KR" altLang="en-US" sz="1400" b="1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E56097-D16D-2C48-13BB-6EBD65E200A8}"/>
              </a:ext>
            </a:extLst>
          </p:cNvPr>
          <p:cNvSpPr/>
          <p:nvPr/>
        </p:nvSpPr>
        <p:spPr>
          <a:xfrm>
            <a:off x="508000" y="2286000"/>
            <a:ext cx="11176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68D1E-D356-ABBC-F19F-96708CAA2E80}"/>
              </a:ext>
            </a:extLst>
          </p:cNvPr>
          <p:cNvSpPr txBox="1"/>
          <p:nvPr/>
        </p:nvSpPr>
        <p:spPr>
          <a:xfrm>
            <a:off x="889000" y="2603500"/>
            <a:ext cx="10160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준오손의 무국적 캐릭터가 분크의 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어디서나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(Ovunque)'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세계관 속 여행자가 된다는 스토리라인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국적도 형태도 하나로 규정되지 않는 캐릭터가 일상 곳곳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가방 안감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지퍼풀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스트랩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에 머물며 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무엇이든 어디서든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함께한다는 메시지를 전달한다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.</a:t>
            </a:r>
            <a:endParaRPr lang="ko-KR" altLang="en-US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BB224A-B925-84E1-BADA-A25AC447E354}"/>
              </a:ext>
            </a:extLst>
          </p:cNvPr>
          <p:cNvSpPr/>
          <p:nvPr/>
        </p:nvSpPr>
        <p:spPr>
          <a:xfrm>
            <a:off x="889000" y="5080000"/>
            <a:ext cx="1485900" cy="406400"/>
          </a:xfrm>
          <a:prstGeom prst="roundRect">
            <a:avLst/>
          </a:prstGeom>
          <a:solidFill>
            <a:srgbClr val="F5F3EE"/>
          </a:solidFill>
          <a:ln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#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어디에나오존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5AA8531-64BA-0F76-CA78-4D464A23552F}"/>
              </a:ext>
            </a:extLst>
          </p:cNvPr>
          <p:cNvSpPr/>
          <p:nvPr/>
        </p:nvSpPr>
        <p:spPr>
          <a:xfrm>
            <a:off x="2527300" y="5080000"/>
            <a:ext cx="2603500" cy="406400"/>
          </a:xfrm>
          <a:prstGeom prst="roundRect">
            <a:avLst/>
          </a:prstGeom>
          <a:solidFill>
            <a:srgbClr val="F5F3EE"/>
          </a:solidFill>
          <a:ln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#OvunqueFriends</a:t>
            </a:r>
            <a:endParaRPr lang="ko-KR" altLang="en-US" sz="12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7CA806F-2314-AF3E-3740-B997622A2113}"/>
              </a:ext>
            </a:extLst>
          </p:cNvPr>
          <p:cNvSpPr/>
          <p:nvPr/>
        </p:nvSpPr>
        <p:spPr>
          <a:xfrm>
            <a:off x="5283200" y="5080000"/>
            <a:ext cx="2044700" cy="406400"/>
          </a:xfrm>
          <a:prstGeom prst="roundRect">
            <a:avLst/>
          </a:prstGeom>
          <a:solidFill>
            <a:srgbClr val="F5F3EE"/>
          </a:solidFill>
          <a:ln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#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미니멀속한스푼의유머</a:t>
            </a:r>
          </a:p>
        </p:txBody>
      </p:sp>
    </p:spTree>
    <p:extLst>
      <p:ext uri="{BB962C8B-B14F-4D97-AF65-F5344CB8AC3E}">
        <p14:creationId xmlns:p14="http://schemas.microsoft.com/office/powerpoint/2010/main" val="389802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D5D3FE5-D131-27FA-D8F7-287E32F93F40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C02D23-6D56-93C6-A9A2-D06ABEB9FE6E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03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라인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801FE-EFCF-B2FD-6207-7ED3CF4A0BEC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2-Tier </a:t>
            </a:r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전략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1B9CBBD-4046-5406-F364-AD27D7B9D5D3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23B86E-A6B9-CEC6-2DE0-15BF899A3B52}"/>
              </a:ext>
            </a:extLst>
          </p:cNvPr>
          <p:cNvSpPr txBox="1"/>
          <p:nvPr/>
        </p:nvSpPr>
        <p:spPr>
          <a:xfrm>
            <a:off x="508000" y="1651000"/>
            <a:ext cx="1117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>
                <a:solidFill>
                  <a:srgbClr val="6B6357"/>
                </a:solidFill>
                <a:latin typeface="맑은 고딕" panose="020B0503020000020004" pitchFamily="50" charset="-127"/>
              </a:rPr>
              <a:t>그래픽 노출 비중으로 리스크를 분리한다 </a:t>
            </a:r>
            <a:r>
              <a:rPr lang="en-US" altLang="ko-KR" sz="1400">
                <a:solidFill>
                  <a:srgbClr val="6B6357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6B6357"/>
                </a:solidFill>
                <a:latin typeface="맑은 고딕" panose="020B0503020000020004" pitchFamily="50" charset="-127"/>
              </a:rPr>
              <a:t>정체성을 지키는 </a:t>
            </a:r>
            <a:r>
              <a:rPr lang="en-US" altLang="ko-KR" sz="1400">
                <a:solidFill>
                  <a:srgbClr val="6B6357"/>
                </a:solidFill>
                <a:latin typeface="맑은 고딕" panose="020B0503020000020004" pitchFamily="50" charset="-127"/>
              </a:rPr>
              <a:t>Essential</a:t>
            </a:r>
            <a:r>
              <a:rPr lang="ko-KR" altLang="en-US" sz="1400">
                <a:solidFill>
                  <a:srgbClr val="6B6357"/>
                </a:solidFill>
                <a:latin typeface="맑은 고딕" panose="020B0503020000020004" pitchFamily="50" charset="-127"/>
              </a:rPr>
              <a:t>과 화제성을 만드는 </a:t>
            </a:r>
            <a:r>
              <a:rPr lang="en-US" altLang="ko-KR" sz="1400">
                <a:solidFill>
                  <a:srgbClr val="6B6357"/>
                </a:solidFill>
                <a:latin typeface="맑은 고딕" panose="020B0503020000020004" pitchFamily="50" charset="-127"/>
              </a:rPr>
              <a:t>Statement</a:t>
            </a:r>
            <a:endParaRPr lang="ko-KR" altLang="en-US" sz="14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EA45F1-2CB6-8A7F-F681-C3D191732CCE}"/>
              </a:ext>
            </a:extLst>
          </p:cNvPr>
          <p:cNvSpPr/>
          <p:nvPr/>
        </p:nvSpPr>
        <p:spPr>
          <a:xfrm>
            <a:off x="508000" y="2413000"/>
            <a:ext cx="5207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549324-ED9E-1A6E-4DC8-2606F4A0694E}"/>
              </a:ext>
            </a:extLst>
          </p:cNvPr>
          <p:cNvSpPr/>
          <p:nvPr/>
        </p:nvSpPr>
        <p:spPr>
          <a:xfrm>
            <a:off x="762000" y="2641600"/>
            <a:ext cx="1651000" cy="304800"/>
          </a:xfrm>
          <a:prstGeom prst="rect">
            <a:avLst/>
          </a:prstGeom>
          <a:solidFill>
            <a:srgbClr val="ECE7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6B6357"/>
                </a:solidFill>
                <a:latin typeface="맑은 고딕" panose="020B0503020000020004" pitchFamily="50" charset="-127"/>
              </a:rPr>
              <a:t>ESSENTIAL LINE</a:t>
            </a:r>
            <a:endParaRPr lang="ko-KR" altLang="en-US" sz="1000" b="1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1144F-A6B5-D815-EB50-0BE842859511}"/>
              </a:ext>
            </a:extLst>
          </p:cNvPr>
          <p:cNvSpPr txBox="1"/>
          <p:nvPr/>
        </p:nvSpPr>
        <p:spPr>
          <a:xfrm>
            <a:off x="762000" y="3098800"/>
            <a:ext cx="444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>
                <a:solidFill>
                  <a:srgbClr val="1C1A16"/>
                </a:solidFill>
                <a:latin typeface="맑은 고딕" panose="020B0503020000020004" pitchFamily="50" charset="-127"/>
              </a:rPr>
              <a:t>포인트 적용 </a:t>
            </a:r>
            <a:r>
              <a:rPr lang="en-US" altLang="ko-KR" sz="1600" b="1">
                <a:solidFill>
                  <a:srgbClr val="1C1A16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600" b="1">
                <a:solidFill>
                  <a:srgbClr val="1C1A16"/>
                </a:solidFill>
                <a:latin typeface="맑은 고딕" panose="020B0503020000020004" pitchFamily="50" charset="-127"/>
              </a:rPr>
              <a:t>데일리 착용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9ADB9-6FCC-CAAE-3FB1-29F6F3C3C34B}"/>
              </a:ext>
            </a:extLst>
          </p:cNvPr>
          <p:cNvSpPr txBox="1"/>
          <p:nvPr/>
        </p:nvSpPr>
        <p:spPr>
          <a:xfrm>
            <a:off x="762000" y="3530600"/>
            <a:ext cx="4699000" cy="17338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기존 베스트셀러 실루엣 유지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안감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지퍼풀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네임택 등 저노출 위치에만 그래픽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기존 생산 라인 재활용 → 리드타임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원가 절감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협업을 몰라도 단독 착용 가능한 밸런스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54AA84-29CE-B697-FD1D-A77AC6F07C0B}"/>
              </a:ext>
            </a:extLst>
          </p:cNvPr>
          <p:cNvSpPr/>
          <p:nvPr/>
        </p:nvSpPr>
        <p:spPr>
          <a:xfrm>
            <a:off x="5969000" y="2413000"/>
            <a:ext cx="5715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47657B-5816-CB50-4B12-A1EC0946DC03}"/>
              </a:ext>
            </a:extLst>
          </p:cNvPr>
          <p:cNvSpPr/>
          <p:nvPr/>
        </p:nvSpPr>
        <p:spPr>
          <a:xfrm>
            <a:off x="6223000" y="2641600"/>
            <a:ext cx="1778000" cy="304800"/>
          </a:xfrm>
          <a:prstGeom prst="rect">
            <a:avLst/>
          </a:prstGeom>
          <a:solidFill>
            <a:srgbClr val="FFC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C1A16"/>
                </a:solidFill>
                <a:latin typeface="맑은 고딕" panose="020B0503020000020004" pitchFamily="50" charset="-127"/>
              </a:rPr>
              <a:t>STATEMENT LINE</a:t>
            </a:r>
            <a:endParaRPr lang="ko-KR" altLang="en-US" sz="1000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9A6C6B-6D49-2F28-EF8C-BB4C94FC5B31}"/>
              </a:ext>
            </a:extLst>
          </p:cNvPr>
          <p:cNvSpPr txBox="1"/>
          <p:nvPr/>
        </p:nvSpPr>
        <p:spPr>
          <a:xfrm>
            <a:off x="6223000" y="3098800"/>
            <a:ext cx="482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>
                <a:solidFill>
                  <a:srgbClr val="1C1A16"/>
                </a:solidFill>
                <a:latin typeface="맑은 고딕" panose="020B0503020000020004" pitchFamily="50" charset="-127"/>
              </a:rPr>
              <a:t>올오버 그래픽 </a:t>
            </a:r>
            <a:r>
              <a:rPr lang="en-US" altLang="ko-KR" sz="1600" b="1">
                <a:solidFill>
                  <a:srgbClr val="1C1A16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600" b="1">
                <a:solidFill>
                  <a:srgbClr val="1C1A16"/>
                </a:solidFill>
                <a:latin typeface="맑은 고딕" panose="020B0503020000020004" pitchFamily="50" charset="-127"/>
              </a:rPr>
              <a:t>한정 수량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AE95B5-8FCC-376A-295E-F8AFF13258A6}"/>
              </a:ext>
            </a:extLst>
          </p:cNvPr>
          <p:cNvSpPr txBox="1"/>
          <p:nvPr/>
        </p:nvSpPr>
        <p:spPr>
          <a:xfrm>
            <a:off x="6223000" y="3530600"/>
            <a:ext cx="5207000" cy="20108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에코백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파우치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키링 등 그래픽 노출 면적이 넓은 품목에 캐릭터 전면 배치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넘버링 한정 수량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SNS·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화제성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인증샷 유도용 아트피스 포지션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낮은 가격대 굿즈로 팬덤 진입 장벽 최소화</a:t>
            </a:r>
            <a:r>
              <a:rPr lang="en-US" altLang="ko-KR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1C1A16"/>
                </a:solidFill>
                <a:latin typeface="맑은 고딕" panose="020B0503020000020004" pitchFamily="50" charset="-127"/>
              </a:rPr>
              <a:t>세컨드 드롭 예열</a:t>
            </a:r>
          </a:p>
        </p:txBody>
      </p:sp>
    </p:spTree>
    <p:extLst>
      <p:ext uri="{BB962C8B-B14F-4D97-AF65-F5344CB8AC3E}">
        <p14:creationId xmlns:p14="http://schemas.microsoft.com/office/powerpoint/2010/main" val="199309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2F25D3C-1EFD-CFC7-B027-F5449A772EBB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B7DAF-171D-F534-DCC6-AB56669DC3D3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04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상품 카테고리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05142-F411-2069-B7D6-6EAC23D1A66C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카테고리 매트릭스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1D7A514-02E1-3BBC-8390-2E2EA54767F7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AB8367-E3D3-69C6-69DC-DF7AD3575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632825"/>
              </p:ext>
            </p:extLst>
          </p:nvPr>
        </p:nvGraphicFramePr>
        <p:xfrm>
          <a:off x="508000" y="1778000"/>
          <a:ext cx="11176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49762705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42335357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509732157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60702301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60086188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6B6357"/>
                          </a:solidFill>
                          <a:latin typeface="맑은 고딕" panose="020B0503020000020004" pitchFamily="50" charset="-127"/>
                        </a:rPr>
                        <a:t>카테고리</a:t>
                      </a:r>
                    </a:p>
                  </a:txBody>
                  <a:tcPr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6B6357"/>
                          </a:solidFill>
                          <a:latin typeface="맑은 고딕" panose="020B0503020000020004" pitchFamily="50" charset="-127"/>
                        </a:rPr>
                        <a:t>라인</a:t>
                      </a:r>
                    </a:p>
                  </a:txBody>
                  <a:tcPr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6B6357"/>
                          </a:solidFill>
                          <a:latin typeface="맑은 고딕" panose="020B0503020000020004" pitchFamily="50" charset="-127"/>
                        </a:rPr>
                        <a:t>적용 방식</a:t>
                      </a:r>
                    </a:p>
                  </a:txBody>
                  <a:tcPr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6B6357"/>
                          </a:solidFill>
                          <a:latin typeface="맑은 고딕" panose="020B0503020000020004" pitchFamily="50" charset="-127"/>
                        </a:rPr>
                        <a:t>가격대</a:t>
                      </a:r>
                    </a:p>
                  </a:txBody>
                  <a:tcPr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6B6357"/>
                          </a:solidFill>
                          <a:latin typeface="맑은 고딕" panose="020B0503020000020004" pitchFamily="50" charset="-127"/>
                        </a:rPr>
                        <a:t>기획 포인트</a:t>
                      </a:r>
                    </a:p>
                  </a:txBody>
                  <a:tcPr>
                    <a:solidFill>
                      <a:srgbClr val="ECE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68959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피너츠 참 키링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Statement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캐릭터 입체 형상화 굿즈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29,000–39,000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최저가 진입</a:t>
                      </a:r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완판 유도용 한정 수량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68513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캔버스 에코백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Statement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올오버 일러스트 프린트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49,000–69,000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그래픽 노출 최대</a:t>
                      </a:r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, SNS </a:t>
                      </a:r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화제성 견인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788457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카드지갑</a:t>
                      </a:r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파우치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Essential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코너 자수 포인트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79,000–99,000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기프팅 수요 공략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31879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교체용 스트랩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Statement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스트랩 전체 프린트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39,000–59,000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기존 백 보유 고객 세컨 구매 유도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601327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시그니처 숄더백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Essential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안감 올오버</a:t>
                      </a:r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겉면 무지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259,000–329,000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베스트셀러 실루엣 재사용</a:t>
                      </a:r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메인 상품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891308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미니 토트백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Essential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지퍼풀</a:t>
                      </a:r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네임택 자수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189,000–229,000</a:t>
                      </a:r>
                      <a:endParaRPr lang="ko-KR" altLang="en-US" sz="1100">
                        <a:solidFill>
                          <a:srgbClr val="1C1A16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1C1A16"/>
                          </a:solidFill>
                          <a:latin typeface="맑은 고딕" panose="020B0503020000020004" pitchFamily="50" charset="-127"/>
                        </a:rPr>
                        <a:t>데일리 사용 가능한 진입 상품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907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823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F316CB-FECD-BDDE-25C5-3B17C3A45B26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CAA488-ECFA-40C2-00DD-55D8AC7A4EE7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05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디자인 적용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C864C-C468-E980-FDF3-806607F7EB15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위치별 적용 전략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50E74C-CEF9-BFA3-3C55-C97335C74206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21AD3F-4DD3-196B-8143-9C6C87783339}"/>
              </a:ext>
            </a:extLst>
          </p:cNvPr>
          <p:cNvSpPr/>
          <p:nvPr/>
        </p:nvSpPr>
        <p:spPr>
          <a:xfrm>
            <a:off x="508000" y="1778000"/>
            <a:ext cx="1117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A24A2B-6FA8-E9AE-C2FC-DDF768468F9C}"/>
              </a:ext>
            </a:extLst>
          </p:cNvPr>
          <p:cNvSpPr txBox="1"/>
          <p:nvPr/>
        </p:nvSpPr>
        <p:spPr>
          <a:xfrm>
            <a:off x="762000" y="1955800"/>
            <a:ext cx="279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지퍼풀 </a:t>
            </a:r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네임택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F6232-F120-2D92-F59D-91480D60BD35}"/>
              </a:ext>
            </a:extLst>
          </p:cNvPr>
          <p:cNvSpPr txBox="1"/>
          <p:nvPr/>
        </p:nvSpPr>
        <p:spPr>
          <a:xfrm>
            <a:off x="3810000" y="1905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1C1A16"/>
                </a:solidFill>
                <a:latin typeface="맑은 고딕" panose="020B0503020000020004" pitchFamily="50" charset="-127"/>
              </a:rPr>
              <a:t>자수 </a:t>
            </a:r>
            <a:r>
              <a:rPr lang="en-US" altLang="ko-KR" sz="1200" b="1">
                <a:solidFill>
                  <a:srgbClr val="1C1A16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1C1A16"/>
                </a:solidFill>
                <a:latin typeface="맑은 고딕" panose="020B0503020000020004" pitchFamily="50" charset="-127"/>
              </a:rPr>
              <a:t>금속 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5C79B-C0AE-2668-0872-8DCBCD6E4288}"/>
              </a:ext>
            </a:extLst>
          </p:cNvPr>
          <p:cNvSpPr txBox="1"/>
          <p:nvPr/>
        </p:nvSpPr>
        <p:spPr>
          <a:xfrm>
            <a:off x="3810000" y="2260600"/>
            <a:ext cx="7493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Essential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겉에서 보일 듯 말 듯한 포인트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협업을 몰라도 무지 백처럼 보이게 유지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A54086-52BB-E525-21D6-CDD65571D074}"/>
              </a:ext>
            </a:extLst>
          </p:cNvPr>
          <p:cNvSpPr/>
          <p:nvPr/>
        </p:nvSpPr>
        <p:spPr>
          <a:xfrm>
            <a:off x="508000" y="2921000"/>
            <a:ext cx="1117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825EE-D946-4855-5D4B-2EF585262477}"/>
              </a:ext>
            </a:extLst>
          </p:cNvPr>
          <p:cNvSpPr txBox="1"/>
          <p:nvPr/>
        </p:nvSpPr>
        <p:spPr>
          <a:xfrm>
            <a:off x="762000" y="3098800"/>
            <a:ext cx="279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안감 </a:t>
            </a:r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(Lining)</a:t>
            </a:r>
            <a:endParaRPr lang="ko-KR" altLang="en-US" sz="1300" b="1">
              <a:solidFill>
                <a:srgbClr val="2451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9D2215-2BF1-5A5D-180E-2511A4B4DE44}"/>
              </a:ext>
            </a:extLst>
          </p:cNvPr>
          <p:cNvSpPr txBox="1"/>
          <p:nvPr/>
        </p:nvSpPr>
        <p:spPr>
          <a:xfrm>
            <a:off x="3810000" y="3048000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1C1A16"/>
                </a:solidFill>
                <a:latin typeface="맑은 고딕" panose="020B0503020000020004" pitchFamily="50" charset="-127"/>
              </a:rPr>
              <a:t>올오버 프린트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E1CAC-F38A-A87D-F673-1A9144BBEEB0}"/>
              </a:ext>
            </a:extLst>
          </p:cNvPr>
          <p:cNvSpPr txBox="1"/>
          <p:nvPr/>
        </p:nvSpPr>
        <p:spPr>
          <a:xfrm>
            <a:off x="3810000" y="3403600"/>
            <a:ext cx="7493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겉은 무지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열었을 때 캐릭터가 드러나는 서프라이즈 구조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C7B031-8165-B1B2-6A7E-ACE90B28D98B}"/>
              </a:ext>
            </a:extLst>
          </p:cNvPr>
          <p:cNvSpPr/>
          <p:nvPr/>
        </p:nvSpPr>
        <p:spPr>
          <a:xfrm>
            <a:off x="508000" y="4064000"/>
            <a:ext cx="1117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EC5571-CAA1-532B-A7B5-FF620B9361DC}"/>
              </a:ext>
            </a:extLst>
          </p:cNvPr>
          <p:cNvSpPr txBox="1"/>
          <p:nvPr/>
        </p:nvSpPr>
        <p:spPr>
          <a:xfrm>
            <a:off x="762000" y="4241800"/>
            <a:ext cx="279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스트랩</a:t>
            </a:r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파우치</a:t>
            </a:r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에코백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4D9B3-E419-4D97-F8CF-96AE5466089C}"/>
              </a:ext>
            </a:extLst>
          </p:cNvPr>
          <p:cNvSpPr txBox="1"/>
          <p:nvPr/>
        </p:nvSpPr>
        <p:spPr>
          <a:xfrm>
            <a:off x="3810000" y="4191000"/>
            <a:ext cx="127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1C1A16"/>
                </a:solidFill>
                <a:latin typeface="맑은 고딕" panose="020B0503020000020004" pitchFamily="50" charset="-127"/>
              </a:rPr>
              <a:t>실크스크린 프린트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D55A9C-E6CA-7D5F-071B-E546E965A4E8}"/>
              </a:ext>
            </a:extLst>
          </p:cNvPr>
          <p:cNvSpPr txBox="1"/>
          <p:nvPr/>
        </p:nvSpPr>
        <p:spPr>
          <a:xfrm>
            <a:off x="3810000" y="4546600"/>
            <a:ext cx="7493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Statement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라인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리드타임 짧고 컬러 재현도 높음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05E66E-B879-6D15-D7C8-558F5A75A795}"/>
              </a:ext>
            </a:extLst>
          </p:cNvPr>
          <p:cNvSpPr/>
          <p:nvPr/>
        </p:nvSpPr>
        <p:spPr>
          <a:xfrm>
            <a:off x="508000" y="5207000"/>
            <a:ext cx="1117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C2709D-B9FA-67E6-9607-D58EB82B2E8D}"/>
              </a:ext>
            </a:extLst>
          </p:cNvPr>
          <p:cNvSpPr txBox="1"/>
          <p:nvPr/>
        </p:nvSpPr>
        <p:spPr>
          <a:xfrm>
            <a:off x="762000" y="5384800"/>
            <a:ext cx="279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키링 </a:t>
            </a:r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93DB4A-00B4-8459-0337-3619F9C1FF96}"/>
              </a:ext>
            </a:extLst>
          </p:cNvPr>
          <p:cNvSpPr txBox="1"/>
          <p:nvPr/>
        </p:nvSpPr>
        <p:spPr>
          <a:xfrm>
            <a:off x="3810000" y="5334000"/>
            <a:ext cx="127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1C1A16"/>
                </a:solidFill>
                <a:latin typeface="맑은 고딕" panose="020B0503020000020004" pitchFamily="50" charset="-127"/>
              </a:rPr>
              <a:t>입체 봉제</a:t>
            </a:r>
            <a:r>
              <a:rPr lang="en-US" altLang="ko-KR" sz="1200" b="1">
                <a:solidFill>
                  <a:srgbClr val="1C1A16"/>
                </a:solidFill>
                <a:latin typeface="맑은 고딕" panose="020B0503020000020004" pitchFamily="50" charset="-127"/>
              </a:rPr>
              <a:t>·PVC </a:t>
            </a:r>
            <a:r>
              <a:rPr lang="ko-KR" altLang="en-US" sz="1200" b="1">
                <a:solidFill>
                  <a:srgbClr val="1C1A16"/>
                </a:solidFill>
                <a:latin typeface="맑은 고딕" panose="020B0503020000020004" pitchFamily="50" charset="-127"/>
              </a:rPr>
              <a:t>형상화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913795-1E15-A6DB-7B7B-B502147E8025}"/>
              </a:ext>
            </a:extLst>
          </p:cNvPr>
          <p:cNvSpPr txBox="1"/>
          <p:nvPr/>
        </p:nvSpPr>
        <p:spPr>
          <a:xfrm>
            <a:off x="3810000" y="5689600"/>
            <a:ext cx="7493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캐릭터 실루엣을 오브제화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가장 높은 완성도의 소장형 굿즈</a:t>
            </a:r>
          </a:p>
        </p:txBody>
      </p:sp>
    </p:spTree>
    <p:extLst>
      <p:ext uri="{BB962C8B-B14F-4D97-AF65-F5344CB8AC3E}">
        <p14:creationId xmlns:p14="http://schemas.microsoft.com/office/powerpoint/2010/main" val="2872834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4A5625-FF3C-04D0-0AEF-51B125F36B38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E1A94-F37C-FA96-AE7E-CF79E7854FD6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06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컬러 </a:t>
            </a:r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소재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BE017-D778-2E34-FF15-C38DD6881A41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컬러 시스템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BCAA529-5F36-0D33-B71E-9CAC6642F548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C9A670-9BF2-059C-6453-96F9C5633F52}"/>
              </a:ext>
            </a:extLst>
          </p:cNvPr>
          <p:cNvSpPr txBox="1"/>
          <p:nvPr/>
        </p:nvSpPr>
        <p:spPr>
          <a:xfrm>
            <a:off x="508000" y="1651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>
                <a:solidFill>
                  <a:srgbClr val="6B6357"/>
                </a:solidFill>
                <a:latin typeface="맑은 고딕" panose="020B0503020000020004" pitchFamily="50" charset="-127"/>
              </a:rPr>
              <a:t>시즌당 포인트 컬러는 </a:t>
            </a:r>
            <a:r>
              <a:rPr lang="en-US" altLang="ko-KR" sz="1300">
                <a:solidFill>
                  <a:srgbClr val="6B6357"/>
                </a:solidFill>
                <a:latin typeface="맑은 고딕" panose="020B0503020000020004" pitchFamily="50" charset="-127"/>
              </a:rPr>
              <a:t>1–2</a:t>
            </a:r>
            <a:r>
              <a:rPr lang="ko-KR" altLang="en-US" sz="1300">
                <a:solidFill>
                  <a:srgbClr val="6B6357"/>
                </a:solidFill>
                <a:latin typeface="맑은 고딕" panose="020B0503020000020004" pitchFamily="50" charset="-127"/>
              </a:rPr>
              <a:t>가지로 제한 </a:t>
            </a:r>
            <a:r>
              <a:rPr lang="en-US" altLang="ko-KR" sz="1300">
                <a:solidFill>
                  <a:srgbClr val="6B6357"/>
                </a:solidFill>
                <a:latin typeface="맑은 고딕" panose="020B0503020000020004" pitchFamily="50" charset="-127"/>
              </a:rPr>
              <a:t>— '</a:t>
            </a:r>
            <a:r>
              <a:rPr lang="ko-KR" altLang="en-US" sz="1300">
                <a:solidFill>
                  <a:srgbClr val="6B6357"/>
                </a:solidFill>
                <a:latin typeface="맑은 고딕" panose="020B0503020000020004" pitchFamily="50" charset="-127"/>
              </a:rPr>
              <a:t>협업 굿즈</a:t>
            </a:r>
            <a:r>
              <a:rPr lang="en-US" altLang="ko-KR" sz="1300">
                <a:solidFill>
                  <a:srgbClr val="6B635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6B6357"/>
                </a:solidFill>
                <a:latin typeface="맑은 고딕" panose="020B0503020000020004" pitchFamily="50" charset="-127"/>
              </a:rPr>
              <a:t>가 아닌 </a:t>
            </a:r>
            <a:r>
              <a:rPr lang="en-US" altLang="ko-KR" sz="1300">
                <a:solidFill>
                  <a:srgbClr val="6B635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6B6357"/>
                </a:solidFill>
                <a:latin typeface="맑은 고딕" panose="020B0503020000020004" pitchFamily="50" charset="-127"/>
              </a:rPr>
              <a:t>분크 신제품</a:t>
            </a:r>
            <a:r>
              <a:rPr lang="en-US" altLang="ko-KR" sz="1300">
                <a:solidFill>
                  <a:srgbClr val="6B635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6B6357"/>
                </a:solidFill>
                <a:latin typeface="맑은 고딕" panose="020B0503020000020004" pitchFamily="50" charset="-127"/>
              </a:rPr>
              <a:t>으로 읽히게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27F5E-1921-3A4A-E609-8A0C2C5AA805}"/>
              </a:ext>
            </a:extLst>
          </p:cNvPr>
          <p:cNvSpPr txBox="1"/>
          <p:nvPr/>
        </p:nvSpPr>
        <p:spPr>
          <a:xfrm>
            <a:off x="508000" y="2222500"/>
            <a:ext cx="508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6B6357"/>
                </a:solidFill>
                <a:latin typeface="맑은 고딕" panose="020B0503020000020004" pitchFamily="50" charset="-127"/>
              </a:rPr>
              <a:t>BASE — VUNQUE NEUTRAL</a:t>
            </a:r>
            <a:endParaRPr lang="ko-KR" altLang="en-US" sz="1100" b="1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658537-91CE-97C6-EE3F-24BBC41989A8}"/>
              </a:ext>
            </a:extLst>
          </p:cNvPr>
          <p:cNvSpPr/>
          <p:nvPr/>
        </p:nvSpPr>
        <p:spPr>
          <a:xfrm>
            <a:off x="508000" y="2540000"/>
            <a:ext cx="1651000" cy="1016000"/>
          </a:xfrm>
          <a:prstGeom prst="rect">
            <a:avLst/>
          </a:prstGeom>
          <a:solidFill>
            <a:srgbClr val="F5F3E6"/>
          </a:solidFill>
          <a:ln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6BF7DF-4BDA-6BB7-B356-B7FACB94D75A}"/>
              </a:ext>
            </a:extLst>
          </p:cNvPr>
          <p:cNvSpPr txBox="1"/>
          <p:nvPr/>
        </p:nvSpPr>
        <p:spPr>
          <a:xfrm>
            <a:off x="508000" y="3619500"/>
            <a:ext cx="1651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C1A16"/>
                </a:solidFill>
                <a:latin typeface="맑은 고딕" panose="020B0503020000020004" pitchFamily="50" charset="-127"/>
              </a:rPr>
              <a:t>Bone White</a:t>
            </a:r>
            <a:endParaRPr lang="ko-KR" altLang="en-US" sz="1100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FE467-CEC4-27C2-C8E8-522ED82BB52D}"/>
              </a:ext>
            </a:extLst>
          </p:cNvPr>
          <p:cNvSpPr txBox="1"/>
          <p:nvPr/>
        </p:nvSpPr>
        <p:spPr>
          <a:xfrm>
            <a:off x="508000" y="3873500"/>
            <a:ext cx="165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000">
                <a:solidFill>
                  <a:srgbClr val="6B6357"/>
                </a:solidFill>
                <a:latin typeface="맑은 고딕" panose="020B0503020000020004" pitchFamily="50" charset="-127"/>
              </a:rPr>
              <a:t>#F5F3E6</a:t>
            </a:r>
            <a:endParaRPr lang="ko-KR" altLang="en-US" sz="10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9F0717-CA00-DE06-6603-17582A721EDD}"/>
              </a:ext>
            </a:extLst>
          </p:cNvPr>
          <p:cNvSpPr/>
          <p:nvPr/>
        </p:nvSpPr>
        <p:spPr>
          <a:xfrm>
            <a:off x="2413000" y="2540000"/>
            <a:ext cx="1651000" cy="1016000"/>
          </a:xfrm>
          <a:prstGeom prst="rect">
            <a:avLst/>
          </a:prstGeom>
          <a:solidFill>
            <a:srgbClr val="C9B99C"/>
          </a:solidFill>
          <a:ln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5E3B9-99C8-A1E0-F16F-134E41CC1277}"/>
              </a:ext>
            </a:extLst>
          </p:cNvPr>
          <p:cNvSpPr txBox="1"/>
          <p:nvPr/>
        </p:nvSpPr>
        <p:spPr>
          <a:xfrm>
            <a:off x="2413000" y="3619500"/>
            <a:ext cx="1651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C1A16"/>
                </a:solidFill>
                <a:latin typeface="맑은 고딕" panose="020B0503020000020004" pitchFamily="50" charset="-127"/>
              </a:rPr>
              <a:t>Clay Beige</a:t>
            </a:r>
            <a:endParaRPr lang="ko-KR" altLang="en-US" sz="1100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8F32F-9777-D32B-917E-C5E7C45D4376}"/>
              </a:ext>
            </a:extLst>
          </p:cNvPr>
          <p:cNvSpPr txBox="1"/>
          <p:nvPr/>
        </p:nvSpPr>
        <p:spPr>
          <a:xfrm>
            <a:off x="2413000" y="3873500"/>
            <a:ext cx="165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000">
                <a:solidFill>
                  <a:srgbClr val="6B6357"/>
                </a:solidFill>
                <a:latin typeface="맑은 고딕" panose="020B0503020000020004" pitchFamily="50" charset="-127"/>
              </a:rPr>
              <a:t>#C9B99C</a:t>
            </a:r>
            <a:endParaRPr lang="ko-KR" altLang="en-US" sz="10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58A3D0-8928-440D-3C91-6AB3AE73F924}"/>
              </a:ext>
            </a:extLst>
          </p:cNvPr>
          <p:cNvSpPr/>
          <p:nvPr/>
        </p:nvSpPr>
        <p:spPr>
          <a:xfrm>
            <a:off x="4318000" y="2540000"/>
            <a:ext cx="1651000" cy="1016000"/>
          </a:xfrm>
          <a:prstGeom prst="rect">
            <a:avLst/>
          </a:prstGeom>
          <a:solidFill>
            <a:srgbClr val="1C1A16"/>
          </a:solidFill>
          <a:ln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C2610B-398A-6BBC-BC87-80153320103D}"/>
              </a:ext>
            </a:extLst>
          </p:cNvPr>
          <p:cNvSpPr txBox="1"/>
          <p:nvPr/>
        </p:nvSpPr>
        <p:spPr>
          <a:xfrm>
            <a:off x="4318000" y="3619500"/>
            <a:ext cx="1651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C1A16"/>
                </a:solidFill>
                <a:latin typeface="맑은 고딕" panose="020B0503020000020004" pitchFamily="50" charset="-127"/>
              </a:rPr>
              <a:t>Ink Black</a:t>
            </a:r>
            <a:endParaRPr lang="ko-KR" altLang="en-US" sz="1100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B233D-349E-A1E8-5384-92B61B340FA3}"/>
              </a:ext>
            </a:extLst>
          </p:cNvPr>
          <p:cNvSpPr txBox="1"/>
          <p:nvPr/>
        </p:nvSpPr>
        <p:spPr>
          <a:xfrm>
            <a:off x="4318000" y="3873500"/>
            <a:ext cx="165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000">
                <a:solidFill>
                  <a:srgbClr val="6B6357"/>
                </a:solidFill>
                <a:latin typeface="맑은 고딕" panose="020B0503020000020004" pitchFamily="50" charset="-127"/>
              </a:rPr>
              <a:t>#1C1A16</a:t>
            </a:r>
            <a:endParaRPr lang="ko-KR" altLang="en-US" sz="10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EBDCA6-465F-5185-F90B-E6D92DA1EE58}"/>
              </a:ext>
            </a:extLst>
          </p:cNvPr>
          <p:cNvSpPr txBox="1"/>
          <p:nvPr/>
        </p:nvSpPr>
        <p:spPr>
          <a:xfrm>
            <a:off x="508000" y="4381500"/>
            <a:ext cx="508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6B6357"/>
                </a:solidFill>
                <a:latin typeface="맑은 고딕" panose="020B0503020000020004" pitchFamily="50" charset="-127"/>
              </a:rPr>
              <a:t>POINT — JUN OSON POP (</a:t>
            </a:r>
            <a:r>
              <a:rPr lang="ko-KR" altLang="en-US" sz="1100" b="1">
                <a:solidFill>
                  <a:srgbClr val="6B6357"/>
                </a:solidFill>
                <a:latin typeface="맑은 고딕" panose="020B0503020000020004" pitchFamily="50" charset="-127"/>
              </a:rPr>
              <a:t>시즌 택 </a:t>
            </a:r>
            <a:r>
              <a:rPr lang="en-US" altLang="ko-KR" sz="1100" b="1">
                <a:solidFill>
                  <a:srgbClr val="6B6357"/>
                </a:solidFill>
                <a:latin typeface="맑은 고딕" panose="020B0503020000020004" pitchFamily="50" charset="-127"/>
              </a:rPr>
              <a:t>1–2)</a:t>
            </a:r>
            <a:endParaRPr lang="ko-KR" altLang="en-US" sz="1100" b="1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69F91F-AA85-F4D1-B96F-C41BCA6C09C5}"/>
              </a:ext>
            </a:extLst>
          </p:cNvPr>
          <p:cNvSpPr/>
          <p:nvPr/>
        </p:nvSpPr>
        <p:spPr>
          <a:xfrm>
            <a:off x="508000" y="4699000"/>
            <a:ext cx="1651000" cy="1016000"/>
          </a:xfrm>
          <a:prstGeom prst="rect">
            <a:avLst/>
          </a:prstGeom>
          <a:solidFill>
            <a:srgbClr val="FFC839"/>
          </a:solidFill>
          <a:ln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6A3481-5D73-863C-3369-48F106F86F32}"/>
              </a:ext>
            </a:extLst>
          </p:cNvPr>
          <p:cNvSpPr txBox="1"/>
          <p:nvPr/>
        </p:nvSpPr>
        <p:spPr>
          <a:xfrm>
            <a:off x="508000" y="5778500"/>
            <a:ext cx="1651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C1A16"/>
                </a:solidFill>
                <a:latin typeface="맑은 고딕" panose="020B0503020000020004" pitchFamily="50" charset="-127"/>
              </a:rPr>
              <a:t>Peanut Yellow</a:t>
            </a:r>
            <a:endParaRPr lang="ko-KR" altLang="en-US" sz="1100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F7AFF-E843-921D-B0D1-FE8593FC5FC1}"/>
              </a:ext>
            </a:extLst>
          </p:cNvPr>
          <p:cNvSpPr txBox="1"/>
          <p:nvPr/>
        </p:nvSpPr>
        <p:spPr>
          <a:xfrm>
            <a:off x="508000" y="6032500"/>
            <a:ext cx="165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000">
                <a:solidFill>
                  <a:srgbClr val="6B6357"/>
                </a:solidFill>
                <a:latin typeface="맑은 고딕" panose="020B0503020000020004" pitchFamily="50" charset="-127"/>
              </a:rPr>
              <a:t>#FFC839</a:t>
            </a:r>
            <a:endParaRPr lang="ko-KR" altLang="en-US" sz="10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C64A0D-8D26-F522-C37B-D7DB85322BA3}"/>
              </a:ext>
            </a:extLst>
          </p:cNvPr>
          <p:cNvSpPr/>
          <p:nvPr/>
        </p:nvSpPr>
        <p:spPr>
          <a:xfrm>
            <a:off x="2413000" y="4699000"/>
            <a:ext cx="1651000" cy="1016000"/>
          </a:xfrm>
          <a:prstGeom prst="rect">
            <a:avLst/>
          </a:prstGeom>
          <a:solidFill>
            <a:srgbClr val="2451FF"/>
          </a:solidFill>
          <a:ln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7B5131-2B35-84A9-A443-74377523DA50}"/>
              </a:ext>
            </a:extLst>
          </p:cNvPr>
          <p:cNvSpPr txBox="1"/>
          <p:nvPr/>
        </p:nvSpPr>
        <p:spPr>
          <a:xfrm>
            <a:off x="2413000" y="5778500"/>
            <a:ext cx="1651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C1A16"/>
                </a:solidFill>
                <a:latin typeface="맑은 고딕" panose="020B0503020000020004" pitchFamily="50" charset="-127"/>
              </a:rPr>
              <a:t>Signal Blue</a:t>
            </a:r>
            <a:endParaRPr lang="ko-KR" altLang="en-US" sz="1100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CBA6BF-9FA2-E593-65BF-112C30C7B485}"/>
              </a:ext>
            </a:extLst>
          </p:cNvPr>
          <p:cNvSpPr txBox="1"/>
          <p:nvPr/>
        </p:nvSpPr>
        <p:spPr>
          <a:xfrm>
            <a:off x="2413000" y="6032500"/>
            <a:ext cx="165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000">
                <a:solidFill>
                  <a:srgbClr val="6B6357"/>
                </a:solidFill>
                <a:latin typeface="맑은 고딕" panose="020B0503020000020004" pitchFamily="50" charset="-127"/>
              </a:rPr>
              <a:t>#2451FF</a:t>
            </a:r>
            <a:endParaRPr lang="ko-KR" altLang="en-US" sz="10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0A5444F-F445-756D-C915-28BBE0339130}"/>
              </a:ext>
            </a:extLst>
          </p:cNvPr>
          <p:cNvSpPr/>
          <p:nvPr/>
        </p:nvSpPr>
        <p:spPr>
          <a:xfrm>
            <a:off x="4318000" y="4699000"/>
            <a:ext cx="1651000" cy="1016000"/>
          </a:xfrm>
          <a:prstGeom prst="rect">
            <a:avLst/>
          </a:prstGeom>
          <a:solidFill>
            <a:srgbClr val="E8462F"/>
          </a:solidFill>
          <a:ln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9D61DA-BE59-55B5-C6D6-4D85E6AD69CD}"/>
              </a:ext>
            </a:extLst>
          </p:cNvPr>
          <p:cNvSpPr txBox="1"/>
          <p:nvPr/>
        </p:nvSpPr>
        <p:spPr>
          <a:xfrm>
            <a:off x="4318000" y="5778500"/>
            <a:ext cx="1651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C1A16"/>
                </a:solidFill>
                <a:latin typeface="맑은 고딕" panose="020B0503020000020004" pitchFamily="50" charset="-127"/>
              </a:rPr>
              <a:t>Poppy Red</a:t>
            </a:r>
            <a:endParaRPr lang="ko-KR" altLang="en-US" sz="1100" b="1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F45208-2239-850C-50FF-CB92AB50AC69}"/>
              </a:ext>
            </a:extLst>
          </p:cNvPr>
          <p:cNvSpPr txBox="1"/>
          <p:nvPr/>
        </p:nvSpPr>
        <p:spPr>
          <a:xfrm>
            <a:off x="4318000" y="6032500"/>
            <a:ext cx="165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000">
                <a:solidFill>
                  <a:srgbClr val="6B6357"/>
                </a:solidFill>
                <a:latin typeface="맑은 고딕" panose="020B0503020000020004" pitchFamily="50" charset="-127"/>
              </a:rPr>
              <a:t>#E8462F</a:t>
            </a:r>
            <a:endParaRPr lang="ko-KR" altLang="en-US" sz="1000">
              <a:solidFill>
                <a:srgbClr val="6B635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208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88E9BC-1275-98C3-84D8-FFF55E57BAB0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CA8AD-8366-36A8-31B7-EE563C4754A9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07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가격 </a:t>
            </a:r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&amp; MD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0F181-606A-E09A-5504-81C96C67760A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프라이싱 전략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9B28810-C548-459D-570D-88417C114635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FB8096-46DF-D939-4C18-9AC6B5BC703E}"/>
              </a:ext>
            </a:extLst>
          </p:cNvPr>
          <p:cNvSpPr/>
          <p:nvPr/>
        </p:nvSpPr>
        <p:spPr>
          <a:xfrm>
            <a:off x="508000" y="1905000"/>
            <a:ext cx="11176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45C1E-25E6-44AE-9BF4-584AA434C62C}"/>
              </a:ext>
            </a:extLst>
          </p:cNvPr>
          <p:cNvSpPr txBox="1"/>
          <p:nvPr/>
        </p:nvSpPr>
        <p:spPr>
          <a:xfrm>
            <a:off x="825500" y="2133600"/>
            <a:ext cx="10541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기존 분크 프라이스밴드 대비 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+10~20% 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내외의 협업 프리미엄을 권장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과도한 인상은 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굿즈에 웃돈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이라는 반감을 살 수 있어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, Essential 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라인은 기존가에 가깝게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, Statement 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라인은 한정성으로 가치를 설득한다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5DB20F-5402-807A-8D57-191E168CEECA}"/>
              </a:ext>
            </a:extLst>
          </p:cNvPr>
          <p:cNvSpPr/>
          <p:nvPr/>
        </p:nvSpPr>
        <p:spPr>
          <a:xfrm>
            <a:off x="508000" y="4064000"/>
            <a:ext cx="11176000" cy="1905000"/>
          </a:xfrm>
          <a:prstGeom prst="rect">
            <a:avLst/>
          </a:prstGeom>
          <a:solidFill>
            <a:srgbClr val="ECE7DB"/>
          </a:solidFill>
          <a:ln w="12700">
            <a:solidFill>
              <a:srgbClr val="DAD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3F1E6-A940-36AE-152C-5F91ED9C67DE}"/>
              </a:ext>
            </a:extLst>
          </p:cNvPr>
          <p:cNvSpPr txBox="1"/>
          <p:nvPr/>
        </p:nvSpPr>
        <p:spPr>
          <a:xfrm>
            <a:off x="825500" y="4292600"/>
            <a:ext cx="10541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준오손은 하츠네 미쿠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세서미 스트리트 등 굿즈 소비층이 넓은 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IP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와의 협업 경험이 있어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키링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파우치 같은 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만원대 엔트리 굿즈가 팬덤 유입의 첫 관문이 될 가능성이 높다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엔트리 굿즈 → 실사용 잡화 → 시그니처 백 순으로 전환 동선을 설계한다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1C1A16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69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B1DBBB-332A-B47A-C9EE-5EEBD7D4B3CC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33762-BF39-1B4A-5ACE-0301CD0E912F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08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리테일 </a:t>
            </a:r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마케팅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F8EEC7-5933-DA2A-53C5-B883F8D962E3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실행 계획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BAB1CD2-F3FA-AF57-C00D-87230DB6A04A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053E52-722C-1E01-1299-DC367FB0EF2B}"/>
              </a:ext>
            </a:extLst>
          </p:cNvPr>
          <p:cNvSpPr txBox="1"/>
          <p:nvPr/>
        </p:nvSpPr>
        <p:spPr>
          <a:xfrm>
            <a:off x="508000" y="1905000"/>
            <a:ext cx="11176000" cy="104131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팝업스토어 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분크 홈그라운드 성수동에서 진행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준오손 원화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프린트 전시 병행으로 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아트 콜라보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포지셔닝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채널 순차 오픈 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무신사 단독 선공개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화제성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) → 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분크 자사몰 정식 오픈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팬 흡수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) → EQL·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오프라인 확대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일반 고객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)</a:t>
            </a:r>
          </a:p>
          <a:p>
            <a:pPr marL="342900" indent="-342900">
              <a:spcAft>
                <a:spcPts val="1000"/>
              </a:spcAft>
              <a:buClr>
                <a:srgbClr val="6B6357"/>
              </a:buClr>
              <a:buFont typeface="+mj-lt"/>
              <a:buChar char="•"/>
            </a:pP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한정판 넘버링 </a:t>
            </a:r>
            <a:r>
              <a:rPr lang="en-US" altLang="ko-KR" sz="1500">
                <a:solidFill>
                  <a:srgbClr val="1C1A16"/>
                </a:solidFill>
                <a:latin typeface="맑은 고딕" panose="020B0503020000020004" pitchFamily="50" charset="-127"/>
              </a:rPr>
              <a:t>— Statement </a:t>
            </a:r>
            <a:r>
              <a:rPr lang="ko-KR" altLang="en-US" sz="1500">
                <a:solidFill>
                  <a:srgbClr val="1C1A16"/>
                </a:solidFill>
                <a:latin typeface="맑은 고딕" panose="020B0503020000020004" pitchFamily="50" charset="-127"/>
              </a:rPr>
              <a:t>라인은 개별 넘버링 태그로 희소성 명시</a:t>
            </a:r>
          </a:p>
        </p:txBody>
      </p:sp>
    </p:spTree>
    <p:extLst>
      <p:ext uri="{BB962C8B-B14F-4D97-AF65-F5344CB8AC3E}">
        <p14:creationId xmlns:p14="http://schemas.microsoft.com/office/powerpoint/2010/main" val="696960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286659D-F683-325D-1DF5-CE384858C423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D21E-74D0-D8CB-EEB6-FB6AED43B7E5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09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체크포인트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CE0CE-F1DF-2A07-DCD7-FD94DE38E3F5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리스크 체크리스트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0E63687-E61F-30AD-4BB0-F363F1F23DDB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22903E-6E53-01DD-3198-6B409483A446}"/>
              </a:ext>
            </a:extLst>
          </p:cNvPr>
          <p:cNvSpPr/>
          <p:nvPr/>
        </p:nvSpPr>
        <p:spPr>
          <a:xfrm>
            <a:off x="508000" y="1778000"/>
            <a:ext cx="330200" cy="330200"/>
          </a:xfrm>
          <a:prstGeom prst="rect">
            <a:avLst/>
          </a:prstGeom>
          <a:solidFill>
            <a:srgbClr val="E846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</a:rPr>
              <a:t>!</a:t>
            </a:r>
            <a:endParaRPr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536BF-8823-4DD1-D762-F72EC30FA1B6}"/>
              </a:ext>
            </a:extLst>
          </p:cNvPr>
          <p:cNvSpPr txBox="1"/>
          <p:nvPr/>
        </p:nvSpPr>
        <p:spPr>
          <a:xfrm>
            <a:off x="1016000" y="1803400"/>
            <a:ext cx="1054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라이선스 범위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카테고리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기간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리전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를 계약 초기에 문서로 확정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9DC57B-5011-B864-E772-0E77EA5807C3}"/>
              </a:ext>
            </a:extLst>
          </p:cNvPr>
          <p:cNvSpPr/>
          <p:nvPr/>
        </p:nvSpPr>
        <p:spPr>
          <a:xfrm>
            <a:off x="508000" y="2768600"/>
            <a:ext cx="330200" cy="330200"/>
          </a:xfrm>
          <a:prstGeom prst="rect">
            <a:avLst/>
          </a:prstGeom>
          <a:solidFill>
            <a:srgbClr val="E846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</a:rPr>
              <a:t>!</a:t>
            </a:r>
            <a:endParaRPr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61D92-75B7-3A17-BC0B-34D11AB82C46}"/>
              </a:ext>
            </a:extLst>
          </p:cNvPr>
          <p:cNvSpPr txBox="1"/>
          <p:nvPr/>
        </p:nvSpPr>
        <p:spPr>
          <a:xfrm>
            <a:off x="1016000" y="2794000"/>
            <a:ext cx="1054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그래픽 노출 비중 가이드라인 사전 합의 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— Essential 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라인 과다 장식 방지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D56522-C203-90B6-F6DA-CF09DF5A85D7}"/>
              </a:ext>
            </a:extLst>
          </p:cNvPr>
          <p:cNvSpPr/>
          <p:nvPr/>
        </p:nvSpPr>
        <p:spPr>
          <a:xfrm>
            <a:off x="508000" y="3759200"/>
            <a:ext cx="330200" cy="330200"/>
          </a:xfrm>
          <a:prstGeom prst="rect">
            <a:avLst/>
          </a:prstGeom>
          <a:solidFill>
            <a:srgbClr val="E846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</a:rPr>
              <a:t>!</a:t>
            </a:r>
            <a:endParaRPr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90B6D-125D-8C23-2115-1DD7BA4C4EDA}"/>
              </a:ext>
            </a:extLst>
          </p:cNvPr>
          <p:cNvSpPr txBox="1"/>
          <p:nvPr/>
        </p:nvSpPr>
        <p:spPr>
          <a:xfrm>
            <a:off x="1016000" y="3784600"/>
            <a:ext cx="1054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자수는 완성도 높지만 리드타임 김 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— Statement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는 프린트로 일정 리스크 분산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937A18-F9BF-6102-FC24-5F5436C3D8FB}"/>
              </a:ext>
            </a:extLst>
          </p:cNvPr>
          <p:cNvSpPr/>
          <p:nvPr/>
        </p:nvSpPr>
        <p:spPr>
          <a:xfrm>
            <a:off x="508000" y="4749800"/>
            <a:ext cx="330200" cy="330200"/>
          </a:xfrm>
          <a:prstGeom prst="rect">
            <a:avLst/>
          </a:prstGeom>
          <a:solidFill>
            <a:srgbClr val="E846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</a:rPr>
              <a:t>!</a:t>
            </a:r>
            <a:endParaRPr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8E9B6A-8AD5-880A-3442-33E01C4E2D43}"/>
              </a:ext>
            </a:extLst>
          </p:cNvPr>
          <p:cNvSpPr txBox="1"/>
          <p:nvPr/>
        </p:nvSpPr>
        <p:spPr>
          <a:xfrm>
            <a:off x="1016000" y="4775200"/>
            <a:ext cx="1054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국내 준오손 협업 레퍼런스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아조바이아 등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존재 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— '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분크만의 스토리</a:t>
            </a:r>
            <a:r>
              <a:rPr lang="en-US" altLang="ko-KR" sz="1400">
                <a:solidFill>
                  <a:srgbClr val="1C1A16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1C1A16"/>
                </a:solidFill>
                <a:latin typeface="맑은 고딕" panose="020B0503020000020004" pitchFamily="50" charset="-127"/>
              </a:rPr>
              <a:t>로 차별화 메시지 명확화</a:t>
            </a:r>
          </a:p>
        </p:txBody>
      </p:sp>
    </p:spTree>
    <p:extLst>
      <p:ext uri="{BB962C8B-B14F-4D97-AF65-F5344CB8AC3E}">
        <p14:creationId xmlns:p14="http://schemas.microsoft.com/office/powerpoint/2010/main" val="717129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9B318C2-231F-5656-0799-C4A98ED70E53}"/>
              </a:ext>
            </a:extLst>
          </p:cNvPr>
          <p:cNvSpPr/>
          <p:nvPr/>
        </p:nvSpPr>
        <p:spPr>
          <a:xfrm>
            <a:off x="508000" y="508000"/>
            <a:ext cx="63500" cy="330200"/>
          </a:xfrm>
          <a:prstGeom prst="rect">
            <a:avLst/>
          </a:prstGeom>
          <a:solidFill>
            <a:srgbClr val="245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B114C-D43A-2E0A-A952-AA5024E420C4}"/>
              </a:ext>
            </a:extLst>
          </p:cNvPr>
          <p:cNvSpPr txBox="1"/>
          <p:nvPr/>
        </p:nvSpPr>
        <p:spPr>
          <a:xfrm>
            <a:off x="711200" y="4572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10 — </a:t>
            </a:r>
            <a:r>
              <a:rPr lang="ko-KR" altLang="en-US" sz="1200" b="1">
                <a:solidFill>
                  <a:srgbClr val="6B6357"/>
                </a:solidFill>
                <a:latin typeface="맑은 고딕" panose="020B0503020000020004" pitchFamily="50" charset="-127"/>
              </a:rPr>
              <a:t>다음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D44DE-5948-A608-B04D-AC68B4997F30}"/>
              </a:ext>
            </a:extLst>
          </p:cNvPr>
          <p:cNvSpPr txBox="1"/>
          <p:nvPr/>
        </p:nvSpPr>
        <p:spPr>
          <a:xfrm>
            <a:off x="508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1C1A16"/>
                </a:solidFill>
                <a:latin typeface="맑은 고딕" panose="020B0503020000020004" pitchFamily="50" charset="-127"/>
              </a:rPr>
              <a:t>액션 플랜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55CDA44-9796-58F9-6A25-5734D98846D8}"/>
              </a:ext>
            </a:extLst>
          </p:cNvPr>
          <p:cNvCxnSpPr/>
          <p:nvPr/>
        </p:nvCxnSpPr>
        <p:spPr>
          <a:xfrm>
            <a:off x="508000" y="1460500"/>
            <a:ext cx="11176000" cy="0"/>
          </a:xfrm>
          <a:prstGeom prst="line">
            <a:avLst/>
          </a:prstGeom>
          <a:ln w="12700">
            <a:solidFill>
              <a:srgbClr val="DA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530EFD04-101D-7416-8525-4E37B22DF641}"/>
              </a:ext>
            </a:extLst>
          </p:cNvPr>
          <p:cNvSpPr/>
          <p:nvPr/>
        </p:nvSpPr>
        <p:spPr>
          <a:xfrm>
            <a:off x="508000" y="1778000"/>
            <a:ext cx="406400" cy="406400"/>
          </a:xfrm>
          <a:prstGeom prst="ellipse">
            <a:avLst/>
          </a:prstGeom>
          <a:solidFill>
            <a:srgbClr val="FFFFFF"/>
          </a:solidFill>
          <a:ln>
            <a:solidFill>
              <a:srgbClr val="245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300" b="1">
              <a:solidFill>
                <a:srgbClr val="2451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AA935-3460-4C3C-F7DA-839DEDF2F3FE}"/>
              </a:ext>
            </a:extLst>
          </p:cNvPr>
          <p:cNvSpPr txBox="1"/>
          <p:nvPr/>
        </p:nvSpPr>
        <p:spPr>
          <a:xfrm>
            <a:off x="1168400" y="1752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b="1">
                <a:solidFill>
                  <a:srgbClr val="1C1A16"/>
                </a:solidFill>
                <a:latin typeface="맑은 고딕" panose="020B0503020000020004" pitchFamily="50" charset="-127"/>
              </a:rPr>
              <a:t>라이선스 협의 범위 확정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1B630-1A67-1613-970C-5AA25A16ADEE}"/>
              </a:ext>
            </a:extLst>
          </p:cNvPr>
          <p:cNvSpPr txBox="1"/>
          <p:nvPr/>
        </p:nvSpPr>
        <p:spPr>
          <a:xfrm>
            <a:off x="1168400" y="2032000"/>
            <a:ext cx="1016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MD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팀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법무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카테고리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기간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리전 우선 합의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F18206E-D0B2-0026-B893-8B88B99049A2}"/>
              </a:ext>
            </a:extLst>
          </p:cNvPr>
          <p:cNvSpPr/>
          <p:nvPr/>
        </p:nvSpPr>
        <p:spPr>
          <a:xfrm>
            <a:off x="508000" y="2641600"/>
            <a:ext cx="406400" cy="406400"/>
          </a:xfrm>
          <a:prstGeom prst="ellipse">
            <a:avLst/>
          </a:prstGeom>
          <a:solidFill>
            <a:srgbClr val="FFFFFF"/>
          </a:solidFill>
          <a:ln>
            <a:solidFill>
              <a:srgbClr val="245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300" b="1">
              <a:solidFill>
                <a:srgbClr val="2451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5F147-96AF-1FD4-3827-18021E48DCDD}"/>
              </a:ext>
            </a:extLst>
          </p:cNvPr>
          <p:cNvSpPr txBox="1"/>
          <p:nvPr/>
        </p:nvSpPr>
        <p:spPr>
          <a:xfrm>
            <a:off x="1168400" y="26162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b="1">
                <a:solidFill>
                  <a:srgbClr val="1C1A16"/>
                </a:solidFill>
                <a:latin typeface="맑은 고딕" panose="020B0503020000020004" pitchFamily="50" charset="-127"/>
              </a:rPr>
              <a:t>준오손 스튜디오에 무드보드 </a:t>
            </a:r>
            <a:r>
              <a:rPr lang="en-US" altLang="ko-KR" b="1">
                <a:solidFill>
                  <a:srgbClr val="1C1A16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b="1">
                <a:solidFill>
                  <a:srgbClr val="1C1A16"/>
                </a:solidFill>
                <a:latin typeface="맑은 고딕" panose="020B0503020000020004" pitchFamily="50" charset="-127"/>
              </a:rPr>
              <a:t>시안 요청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B20DE9-E00C-7DDB-1DC6-B51145F8B291}"/>
              </a:ext>
            </a:extLst>
          </p:cNvPr>
          <p:cNvSpPr txBox="1"/>
          <p:nvPr/>
        </p:nvSpPr>
        <p:spPr>
          <a:xfrm>
            <a:off x="1168400" y="2895600"/>
            <a:ext cx="1016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디자인팀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적용 위치안 공유 후 시안 협의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A2A2395-12E0-2EE2-D093-B7C2770E79A8}"/>
              </a:ext>
            </a:extLst>
          </p:cNvPr>
          <p:cNvSpPr/>
          <p:nvPr/>
        </p:nvSpPr>
        <p:spPr>
          <a:xfrm>
            <a:off x="508000" y="3505200"/>
            <a:ext cx="406400" cy="406400"/>
          </a:xfrm>
          <a:prstGeom prst="ellipse">
            <a:avLst/>
          </a:prstGeom>
          <a:solidFill>
            <a:srgbClr val="FFFFFF"/>
          </a:solidFill>
          <a:ln>
            <a:solidFill>
              <a:srgbClr val="245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300" b="1">
              <a:solidFill>
                <a:srgbClr val="2451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1F3835-BCDE-AF5A-416C-75351B6AFA38}"/>
              </a:ext>
            </a:extLst>
          </p:cNvPr>
          <p:cNvSpPr txBox="1"/>
          <p:nvPr/>
        </p:nvSpPr>
        <p:spPr>
          <a:xfrm>
            <a:off x="1168400" y="34798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b="1">
                <a:solidFill>
                  <a:srgbClr val="1C1A16"/>
                </a:solidFill>
                <a:latin typeface="맑은 고딕" panose="020B0503020000020004" pitchFamily="50" charset="-127"/>
              </a:rPr>
              <a:t>SKU </a:t>
            </a:r>
            <a:r>
              <a:rPr lang="ko-KR" altLang="en-US" b="1">
                <a:solidFill>
                  <a:srgbClr val="1C1A16"/>
                </a:solidFill>
                <a:latin typeface="맑은 고딕" panose="020B0503020000020004" pitchFamily="50" charset="-127"/>
              </a:rPr>
              <a:t>및 원가 확정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9BFFF-56A0-D75E-73F8-B0DEA3E8C17B}"/>
              </a:ext>
            </a:extLst>
          </p:cNvPr>
          <p:cNvSpPr txBox="1"/>
          <p:nvPr/>
        </p:nvSpPr>
        <p:spPr>
          <a:xfrm>
            <a:off x="1168400" y="3759200"/>
            <a:ext cx="1016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MD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팀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생산팀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라인별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SKU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수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자수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프린트 단가 산출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06ACD3F-F7A5-D765-7110-AD1899DB5601}"/>
              </a:ext>
            </a:extLst>
          </p:cNvPr>
          <p:cNvSpPr/>
          <p:nvPr/>
        </p:nvSpPr>
        <p:spPr>
          <a:xfrm>
            <a:off x="508000" y="4368800"/>
            <a:ext cx="406400" cy="406400"/>
          </a:xfrm>
          <a:prstGeom prst="ellipse">
            <a:avLst/>
          </a:prstGeom>
          <a:solidFill>
            <a:srgbClr val="FFFFFF"/>
          </a:solidFill>
          <a:ln>
            <a:solidFill>
              <a:srgbClr val="245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300" b="1">
              <a:solidFill>
                <a:srgbClr val="2451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923C2-C60A-2F0B-DD7F-AC80836A4E90}"/>
              </a:ext>
            </a:extLst>
          </p:cNvPr>
          <p:cNvSpPr txBox="1"/>
          <p:nvPr/>
        </p:nvSpPr>
        <p:spPr>
          <a:xfrm>
            <a:off x="1168400" y="43434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b="1">
                <a:solidFill>
                  <a:srgbClr val="1C1A16"/>
                </a:solidFill>
                <a:latin typeface="맑은 고딕" panose="020B0503020000020004" pitchFamily="50" charset="-127"/>
              </a:rPr>
              <a:t>성수 팝업 공간 </a:t>
            </a:r>
            <a:r>
              <a:rPr lang="en-US" altLang="ko-KR" b="1">
                <a:solidFill>
                  <a:srgbClr val="1C1A16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b="1">
                <a:solidFill>
                  <a:srgbClr val="1C1A16"/>
                </a:solidFill>
                <a:latin typeface="맑은 고딕" panose="020B0503020000020004" pitchFamily="50" charset="-127"/>
              </a:rPr>
              <a:t>일정 협의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D486BF-0540-C73A-2859-DEE1B5C7FE7C}"/>
              </a:ext>
            </a:extLst>
          </p:cNvPr>
          <p:cNvSpPr txBox="1"/>
          <p:nvPr/>
        </p:nvSpPr>
        <p:spPr>
          <a:xfrm>
            <a:off x="1168400" y="4622800"/>
            <a:ext cx="1016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리테일팀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전시 병행 여부 포함 공간 섭외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CA300C4-B6B9-1931-07B8-A45847EFCA47}"/>
              </a:ext>
            </a:extLst>
          </p:cNvPr>
          <p:cNvSpPr/>
          <p:nvPr/>
        </p:nvSpPr>
        <p:spPr>
          <a:xfrm>
            <a:off x="508000" y="5232400"/>
            <a:ext cx="406400" cy="406400"/>
          </a:xfrm>
          <a:prstGeom prst="ellipse">
            <a:avLst/>
          </a:prstGeom>
          <a:solidFill>
            <a:srgbClr val="FFFFFF"/>
          </a:solidFill>
          <a:ln>
            <a:solidFill>
              <a:srgbClr val="245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2451FF"/>
                </a:solidFill>
                <a:latin typeface="맑은 고딕" panose="020B0503020000020004" pitchFamily="50" charset="-127"/>
              </a:rPr>
              <a:t>5</a:t>
            </a:r>
            <a:endParaRPr lang="ko-KR" altLang="en-US" sz="1300" b="1">
              <a:solidFill>
                <a:srgbClr val="2451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EA944C-7393-E057-DB91-57D920448B2F}"/>
              </a:ext>
            </a:extLst>
          </p:cNvPr>
          <p:cNvSpPr txBox="1"/>
          <p:nvPr/>
        </p:nvSpPr>
        <p:spPr>
          <a:xfrm>
            <a:off x="1168400" y="5207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b="1">
                <a:solidFill>
                  <a:srgbClr val="1C1A16"/>
                </a:solidFill>
                <a:latin typeface="맑은 고딕" panose="020B0503020000020004" pitchFamily="50" charset="-127"/>
              </a:rPr>
              <a:t>채널별 오픈 일정 수립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E99177-BA25-9249-6422-993F23DB82D2}"/>
              </a:ext>
            </a:extLst>
          </p:cNvPr>
          <p:cNvSpPr txBox="1"/>
          <p:nvPr/>
        </p:nvSpPr>
        <p:spPr>
          <a:xfrm>
            <a:off x="1168400" y="5486400"/>
            <a:ext cx="1016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이커머스팀 </a:t>
            </a:r>
            <a:r>
              <a:rPr lang="en-US" altLang="ko-KR" sz="1200">
                <a:solidFill>
                  <a:srgbClr val="6B6357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6B6357"/>
                </a:solidFill>
                <a:latin typeface="맑은 고딕" panose="020B0503020000020004" pitchFamily="50" charset="-127"/>
              </a:rPr>
              <a:t>무신사 선공개 일정 우선 조율</a:t>
            </a:r>
          </a:p>
        </p:txBody>
      </p:sp>
    </p:spTree>
    <p:extLst>
      <p:ext uri="{BB962C8B-B14F-4D97-AF65-F5344CB8AC3E}">
        <p14:creationId xmlns:p14="http://schemas.microsoft.com/office/powerpoint/2010/main" val="1938672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Office PowerPoint</Application>
  <PresentationFormat>사용자 지정</PresentationFormat>
  <Paragraphs>149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분크 상품팀_기획MD</dc:creator>
  <cp:lastModifiedBy>분크 상품팀_기획MD</cp:lastModifiedBy>
  <cp:revision>1</cp:revision>
  <dcterms:created xsi:type="dcterms:W3CDTF">2026-09-11T06:08:48Z</dcterms:created>
  <dcterms:modified xsi:type="dcterms:W3CDTF">2026-09-11T06:08:48Z</dcterms:modified>
</cp:coreProperties>
</file>